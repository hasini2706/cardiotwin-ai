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>
            <a:solidFill>
              <a:srgbClr val="070D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TITLE SLIDE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CardioTwin AI: Virtual Cardiovascular Patient Laboratory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Digital Twin Challenge 2026 organized by Happiest Health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Author: Madabattula Tejo Hasini (Solo Student Entry)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Institution: Aditya University, Andhra Pradesh, India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Contact: 24b11ai223@adityauniversity.in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Core Focus: In-silico cardiovascular digital twins fusing EHR &amp; wearable telemetry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License: MIT Open-Source License • Local Zero-Cloud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CardioTwin AI • Digital Twin Challenge 2026 (Happiest Health) • Aditya University • Madabattula Tejo Hasini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>
            <a:solidFill>
              <a:srgbClr val="070D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CLINICAL BACKGROUND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Statement: The Post-Discharge Monitoring Blindspot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Fragmented episodic clinic visits vs continuous home deterioration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Cardiovascular diseases (CVDs) remain the leading cause of global mortality.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Traditional healthcare relies on episodic 15-minute consultations every 3 to 6 months.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Acute autonomic destabilization often transpires within hours at home without warning.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Ordinary consumer wearables record data, but lack clinical context from baseline EHR records.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Need: A personalized computational avatar that fuses static clinical history with dynamic physiological sensors.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CardioTwin AI • Digital Twin Challenge 2026 (Happiest Health) • Aditya University • Madabattula Tejo Hasini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>
            <a:solidFill>
              <a:srgbClr val="070D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CONCEPT &amp; INNOVATION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Why a Cardiovascular Digital Twin?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Transforming passive telemetry into active predictive foresight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Personalized Computational Avatar: Mirrors individual patient physiology in software.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Continuous Multi-Modal Fusion: Combines static EHR risk factors with high-frequency wearable streams.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Dynamic 24-Hour Horizon: Continuously updates deterioration risk when new readings arrive.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Counterfactual 'What-If' Simulation: Allows clinicians to simulate interventions (e.g. sleep improvement, BP control) without patient harm.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Auditable Decision Trail: Every inference and sensor reading is permanently logged.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CardioTwin AI • Digital Twin Challenge 2026 (Happiest Health) • Aditya University • Madabattula Tejo Hasini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>
            <a:solidFill>
              <a:srgbClr val="070D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CLINICAL SPECIFICATION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Target Healthcare Use Case &amp; Prediction Scope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Synthesized 24-hour deterioration proxy under strictly causal lookback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Target Definition: Composite physiological deterioration over the subsequent 24-hour window.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Trigger Criteria: Sustained tachycardia (&gt;=95 bpm), parasympathetic collapse (HRV RMSSD &lt;=18 ms), or acute hypertensive surge (SBP &gt;=165 mmHg).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Strict Zero-Leakage Policy: No future observations utilized in feature extraction at prediction time T.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Scientific Honesty Disclaimer: Prototype evaluates a synthetic proxy; does not predict heart attacks or replace clinical judgment.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Outcome Prevalence: 29.0% positive window occurrence across the 5,550 observation cohort.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CardioTwin AI • Digital Twin Challenge 2026 (Happiest Health) • Aditya University • Madabattula Tejo Hasini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>
            <a:solidFill>
              <a:srgbClr val="070D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TECHNICAL ARCHITECTURE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End-to-End System Architecture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Modular, maintainable, and completely reproducible local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Data Pipeline: Synthetic EHR Generator + 14-day multi-frequency wearable telemetry simulator.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Feature Engineering: Causal rolling temporal windows (6h mean HR, 24h min HRV, sleep debt, rate-pressure index).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Machine Learning Engine: Tuned Random Forest (150 trees) vs Standardized Logistic Regression baseline.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Persistence Layer: Embedded SQLite database logging patients, telemetry, predictions, and simulation events.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Backend: High-performance Python FastAPI service with Pydantic schema validation.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Frontend: Responsive React + TypeScript dashboard with Recharts and Tailwind CSS.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CardioTwin AI • Digital Twin Challenge 2026 (Happiest Health) • Aditya University • Madabattula Tejo Hasini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>
            <a:solidFill>
              <a:srgbClr val="070D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DATA ENGINEERING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Static Baseline EHR Ingestion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Anatomical and chronic vascular baseline parameters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Demographics: Age (38-80 yrs), Biological Sex, Body Mass Index (BMI).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Comorbidities: Clinically correlated Hypertension, Type 2 Diabetes, Smoking Status, Prior MI history.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Hemodynamic &amp; Lipid Markers: Baseline Systolic/Diastolic BP (mmHg), Total Cholesterol, HDL, LDL (mg/dL).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Renal Filtration Markers: Serum Creatinine (mg/dL) and CKD-EPI estimated eGFR (mL/min).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Provenance &amp; Integrity: Seed 42 determinism, missingness indicators, and audit creation timestamps.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CardioTwin AI • Digital Twin Challenge 2026 (Happiest Health) • Aditya University • Madabattula Tejo Hasini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>
            <a:solidFill>
              <a:srgbClr val="070D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DATA ENGINEERING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Dynamic Wearable Telemetry Streams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Time-indexed physiological signals captured at 3-hour intervals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Continuous Heart Rate: Instantaneous pulse rate in beats per minute (bpm).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Heart Rate Variability (HRV): Root Mean Square of Successive Differences (RMSSD in ms) reflecting parasympathetic autonomic tone.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Sleep Architecture: Daily nocturnal sleep duration (hours) and actigraphy sleep quality index (0-100).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Physical Activity: Interval step count and ambulatory movement intensity.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Ambulatory Blood Pressure: Physiologically correlated estimated systolic BP.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Simulated Loss: Realistic 2.0% packet dropout rate with causal forward-fill imputation.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CardioTwin AI • Digital Twin Challenge 2026 (Happiest Health) • Aditya University • Madabattula Tejo Hasini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>
            <a:solidFill>
              <a:srgbClr val="070D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MACHINE LEARNING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Machine Learning Pipeline &amp; Zero-Leakage Validation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Patient-level grouped holdout evaluation with zero cross-patient overlap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Partitioning: GroupShuffleSplit on unique patient IDs (40 training patients, 10 held-out test patients).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Zero Data Leakage: Verified 0 overlapping patients between train and test splits.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StandardScaler Isolation: Preprocessing fitted exclusively on the 40 training patients.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Baseline Model: Logistic Regression with L2 regularization and balanced class weights.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Comparison Model: Random Forest Classifier (150 estimators, max_depth=6, min_samples_leaf=4).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Explainability: Gini impurity ranking and local feature deviation vectors.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CardioTwin AI • Digital Twin Challenge 2026 (Happiest Health) • Aditya University • Madabattula Tejo Hasini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>
            <a:solidFill>
              <a:srgbClr val="070D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RESULTS &amp; VALIDATION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Empirical Evaluation Results (Held-Out Test Cohort)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Genuine executed metrics from saved artifacts - zero fabricated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ROC-AUC: Random Forest achieved 0.9367 vs Logistic Regression 0.8217 (+11.5% gain).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Average Precision (PR-AUC): Random Forest achieved 0.8939 vs Logistic Regression 0.8233.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Balanced F1-Score: Random Forest achieved 0.8295 vs Logistic Regression 0.6733.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Recall (Sensitivity): Random Forest detected 93.29% of deterioration windows (vs 85.53% LR).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Brier Calibration Loss: 0.1221 (RF) vs 0.2373 (LR) demonstrating superior probability reliability.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Confusion Matrix (N=1,110 test samples): TN=482, FP=151, FN=32, TP=445.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CardioTwin AI • Digital Twin Challenge 2026 (Happiest Health) • Aditya University • Madabattula Tejo Hasini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>
            <a:solidFill>
              <a:srgbClr val="070D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USER EXPERIENCE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Interactive Prototype: Research Dashboard &amp; What-If Studio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Six connected screens built for clinical researchers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Screen A (Overview): Cohort-wide risk distribution, active telemetry streams, and patient explorer.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Screen B (Patient Twin): Static EHR baseline cards vs dynamic Recharts (HR, HRV RMSSD ms, Sleep, Steps).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Screen C (Simulation &amp; What-If): Timeline advancer, stress spike injection, and counterfactual parameter sliders.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Screen D (Evaluation): Genuine ROC/PR metrics, confusion matrices, and calibration disclosure.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Screen E (Explainability): Gini feature rankings, data quality monitors, and correlation vs causation alerts.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Screen F (About): Competition background, student details, and ethical safeguards.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CardioTwin AI • Digital Twin Challenge 2026 (Happiest Health) • Aditya University • Madabattula Tejo Hasini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>
            <a:solidFill>
              <a:srgbClr val="070D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ETHICS &amp; SAFETY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Safety, Ethical Safeguards &amp; Medical Disclaimers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Scientific honesty and strict adherence to competition boundaries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100% Synthetic Data: Zero real patient records or identifiable health information (PHI) utilized.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No Medical Overclaiming: Explicitly disclaims diagnosis, treatment prescription, or heart attack prediction.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Correlation != Causation: High feature importance denotes algorithmic association, not biological proof.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Prominent Dashboard Banners: Unmissable research prototype disclaimers on every screen.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Local Confidentiality: No telemetry or patient IDs are ever uploaded to cloud or commercial APIs.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CardioTwin AI • Digital Twin Challenge 2026 (Happiest Health) • Aditya University • Madabattula Tejo Hasini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>
            <a:solidFill>
              <a:srgbClr val="070D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CONCLUSION &amp; NEXT STEPS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Expected Impact, Future Roadmap &amp; Conclusion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Bridging academic digital-twin prototypes with future clinical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Clinical Trial Roadmap: Prospective multi-center validation with institutional review board (IRB) approval.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Sensor Benchmark: Cross-validating wearable PPG sensors against gold-standard 12-lead Holter ECGs.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Demographic Tuning: Calibrating distributions against representative Indian population cardiovascular registries.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Regulatory Compliance: Building SaMD audit documentation compliant with CDSCO and FDA guidelines.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 Summary: CardioTwin AI delivers a fully working, reproducible, technically credible digital-twin prototype.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CardioTwin AI • Digital Twin Challenge 2026 (Happiest Health) • Aditya University • Madabattula Tejo Hasini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